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4E79"/>
                </a:solidFill>
              </a:defRPr>
            </a:pPr>
            <a:r>
              <a:t>CAMPUS ELECTRICITY</a:t>
            </a:r>
            <a:br/>
            <a:r>
              <a:t>CONSUMPTION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900"/>
              </a:spcAft>
              <a:defRPr sz="1700">
                <a:solidFill>
                  <a:srgbClr val="464E58"/>
                </a:solidFill>
              </a:defRPr>
            </a:pPr>
            <a:r>
              <a:t>Mini Project — Predictive Analysis Theory</a:t>
            </a:r>
          </a:p>
          <a:p>
            <a:pPr algn="ctr">
              <a:spcAft>
                <a:spcPts val="900"/>
              </a:spcAft>
              <a:defRPr sz="1700">
                <a:solidFill>
                  <a:srgbClr val="464E58"/>
                </a:solidFill>
              </a:defRPr>
            </a:pPr>
            <a:r>
              <a:t>M.Sc. (Data Science), Semester III | Activity 2</a:t>
            </a:r>
          </a:p>
          <a:p>
            <a:pPr algn="ctr">
              <a:spcAft>
                <a:spcPts val="900"/>
              </a:spcAft>
              <a:defRPr sz="1700">
                <a:solidFill>
                  <a:srgbClr val="464E58"/>
                </a:solidFill>
              </a:defRPr>
            </a:pPr>
            <a:r>
              <a:t>Roll Number: 11 | Academic Year: 2026–27</a:t>
            </a:r>
          </a:p>
          <a:p>
            <a:pPr algn="ctr">
              <a:spcAft>
                <a:spcPts val="900"/>
              </a:spcAft>
              <a:defRPr sz="1400">
                <a:solidFill>
                  <a:srgbClr val="464E58"/>
                </a:solidFill>
              </a:defRPr>
            </a:pPr>
            <a:r>
              <a:t>Department of Computer Science, Dr. D. Y. Patil Arts, Commerce &amp; Science College, Pimpri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Campus electricity demand changes with class schedules, lab use, weekends, seasons, and facility operations.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Forecasts can support energy budgeting, operational planning, and identifying unusual consumption.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Goal: compare time-series baselines with a feature-based machine-learning model for daily kWh.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Prepare and validate timestamped electricity data.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Visualise daily and calendar-based patterns.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Build lag and calendar features for forecasting.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Compare four methods using MAE, RMSE, and MAPE.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Generate an illustrative 14-day forecast and explain limitations.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Dataset &amp;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E58"/>
                </a:solidFill>
              </a:defRPr>
            </a:pPr>
            <a:r>
              <a:t>Data integrity note: synthetic values are clearly labelled throughout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Included dataset is SYNTHETIC and generated for this demonstration—not measured college usage.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Period: 1 Jan–31 Dec 2025; 8,760 hourly rows.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Fields: timestamp and consumption_kwh; hourly values are aggregated into daily kWh.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Demo mean daily total: 112.2 kWh/day; demo daily standard deviation: 17.9 kWh/day.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Replace with authorised meter readings before making campus-specific claims.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Methodology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1. Parse timestamps, sort, inspect duplicates/missing intervals.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2. Aggregate hourly readings to daily kWh totals.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3. Plot the time series and inspect weekly/seasonal structure.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4. Create lag-1, lag-7, trailing 7-day mean, and calendar features.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5. Use chronological 80/20 train/test split; do not shuffle.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6. Evaluate baselines and Random Forest on the holdout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Daily Consumption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E58"/>
                </a:solidFill>
              </a:defRPr>
            </a:pPr>
            <a:r>
              <a:t>Synthetic demonstration data; not real campus readings</a:t>
            </a:r>
          </a:p>
        </p:txBody>
      </p:sp>
      <p:pic>
        <p:nvPicPr>
          <p:cNvPr id="5" name="Picture 4" descr="daily_consum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Preprocessing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Timestamp parsing and chronological sorting establish a valid time index.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Daily kWh = sum of hourly kWh observations for each calendar day.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Lag 1 captures recent demand; lag 7 captures the previous same weekday.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Trailing 7-day average smooths short-term fluctuations.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Calendar features: day of week, day of year, month, and weekend indicator.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Real data: investigate missing meter intervals; do not automatically fill with zero.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Forecasting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Persistence: forecast tomorrow using yesterday’s daily total.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Seasonal naive: use the daily total from seven days earlier.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7-day moving average: average the previous seven daily totals.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Random Forest: nonlinear ensemble using lag and calendar features.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Baselines matter: a complex model should beat simple, transparent methods.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E58"/>
                </a:solidFill>
              </a:defRPr>
            </a:pPr>
            <a:r>
              <a:t>Chronological test period; one-step-ahead rolling evaluation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5836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MAE (kWh/day)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RMSE (kWh/day)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MAPE (%)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Persistence (yesterday)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10.68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16.96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11.55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Seasonal naive (7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2.95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3.01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7-day moving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12.63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14.33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13.84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3.78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4.43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4E58"/>
                          </a:solidFill>
                        </a:defRPr>
                      </a:pPr>
                      <a:r>
                        <a:t>3.99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80"/>
                </a:solidFill>
              </a:defRPr>
            </a:pPr>
            <a:r>
              <a:t>Lowest MAE in this synthetic run: Seasonal naive (7 days). Lower is better; do not generalise this ranking to real campus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Actual vs Predicted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E58"/>
                </a:solidFill>
              </a:defRPr>
            </a:pPr>
            <a:r>
              <a:t>Synthetic holdout period</a:t>
            </a:r>
          </a:p>
        </p:txBody>
      </p:sp>
      <p:pic>
        <p:nvPicPr>
          <p:cNvPr id="5" name="Picture 4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Illustrative 14-Day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E58"/>
                </a:solidFill>
              </a:defRPr>
            </a:pPr>
            <a:r>
              <a:t>Recursive forecast generated from synthetic data</a:t>
            </a:r>
          </a:p>
        </p:txBody>
      </p:sp>
      <p:pic>
        <p:nvPicPr>
          <p:cNvPr id="5" name="Picture 4" descr="forecast_1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50352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Interpretation &amp; Practical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Daily and weekly patterns can inform staffing, lab schedules, and energy planning.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Forecasts can support budgeting and flag days that differ sharply from expectations.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Combine meter readings with holidays, weather, occupancy, and equipment schedules when available.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Use prediction intervals or scenarios—not only point forecasts—for operational decisions.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All supplied values are synthetic; the results are methodological examples only.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Simulation cannot capture real holidays, occupancy, weather extremes, outages, or campus-specific equipment.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Collect 12–24 months of authorised hourly or 15-minute meter readings.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Tune on a validation period, retain a final chronological test set, and compare seasonal baselines.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Re-run the analysis and update all charts/tables before submitting real campus findings.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The project demonstrates preprocessing, time-series visualisation, feature engineering, forecasting, and evaluation.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MAE, RMSE, and MAPE provide complementary measures of forecast error.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The best real-world model must be selected using actual campus meter data.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A reproducible pipeline can be extended with weather, academic calendar, and occupancy features.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Hyndman &amp; Athanasopoulos (2021), Forecasting: Principles and Practice, 3rd ed. — otexts.com/fpp3/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Pedregosa et al. (2011), Scikit-learn: Machine Learning in Python, JMLR 12, 2825–2830.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McKinney (2010), Data Structures for Statistical Computing in Python, SciPy 2010.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Matplotlib documentation — matplotlib.org/stable/</a:t>
            </a:r>
          </a:p>
          <a:p>
            <a:pPr>
              <a:spcAft>
                <a:spcPts val="1500"/>
              </a:spcAft>
              <a:defRPr sz="2100">
                <a:solidFill>
                  <a:srgbClr val="464E58"/>
                </a:solidFill>
              </a:defRPr>
            </a:pPr>
            <a:r>
              <a:t>Dataset provenance: synthetic hourly series generated for this demonstration; no empirical dataset 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